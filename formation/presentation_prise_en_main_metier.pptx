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149"/>
          </a:solidFill>
          <a:ln>
            <a:solidFill>
              <a:srgbClr val="1F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5D4CC"/>
                </a:solidFill>
                <a:latin typeface="Aptos"/>
              </a:rPr>
              <a:t>PRISE EN MAIN MÉTIER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8046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Segmenter le catalogue
pour mieux le vérifier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926080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CE6EF"/>
                </a:solidFill>
                <a:latin typeface="Aptos"/>
              </a:rPr>
              <a:t>POC P13 · Amélioration du projet P6
Durée : 20 minutes · Public : catalogue, achats et pilotage commercial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69080"/>
            <a:ext cx="10378440" cy="1097280"/>
          </a:xfrm>
          <a:prstGeom prst="roundRect">
            <a:avLst/>
          </a:prstGeom>
          <a:solidFill>
            <a:srgbClr val="2A415E"/>
          </a:solidFill>
          <a:ln>
            <a:solidFill>
              <a:srgbClr val="2A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370832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Objectif : prioriser les références à examiner, pas automatiser une décision de stock, de prix ou d’achat.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21792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5B8CA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67F"/>
                </a:solidFill>
                <a:latin typeface="Aptos"/>
              </a:rPr>
              <a:t>REPÈRES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3149"/>
                </a:solidFill>
                <a:latin typeface="Aptos"/>
              </a:rPr>
              <a:t>Ce que l’analyse permet — et ne permet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17D"/>
                </a:solidFill>
                <a:latin typeface="Aptos"/>
              </a:rPr>
              <a:t>Un export de catalogue est un instantané, pas un historique de commandes.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17D"/>
                </a:solidFill>
                <a:latin typeface="Aptos"/>
              </a:rPr>
              <a:t>P13 · Amélioration du P6 · Support de prise en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91440" cy="3520440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Ce que nous utilisons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• Prix HT
• Taux de marge
• Stock disponible
• Ventes cumulées
Ces quatre variables permettent de comparer des profils de références.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3949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3520440"/>
          </a:xfrm>
          <a:prstGeom prst="rect">
            <a:avLst/>
          </a:prstGeom>
          <a:solidFill>
            <a:srgbClr val="DC7A2A"/>
          </a:solidFill>
          <a:ln>
            <a:solidFill>
              <a:srgbClr val="DC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029968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Ce que nous ne déduisons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688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• Pas de prévision de demande
• Pas de saisonnalité ni de vitesse de rotation
• Pas de décision automatique de réassort
`post_date_gmt` est une date de publication web : ce n’est pas une date d’achat.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899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3149"/>
                </a:solidFill>
                <a:latin typeface="Aptos"/>
              </a:rPr>
              <a:t>Réflexe à conserver : un segment attire l’attention ; le contexte métier permet la décision.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379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1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67F"/>
                </a:solidFill>
                <a:latin typeface="Aptos"/>
              </a:rPr>
              <a:t>LECTURE DES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3149"/>
                </a:solidFill>
                <a:latin typeface="Aptos"/>
              </a:rPr>
              <a:t>Les quatre profils issus de la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17D"/>
                </a:solidFill>
                <a:latin typeface="Aptos"/>
              </a:rPr>
              <a:t>Les libellés sont une aide à la lecture : chaque référence doit conserver son contexte commercial.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17D"/>
                </a:solidFill>
                <a:latin typeface="Aptos"/>
              </a:rPr>
              <a:t>P13 · Amélioration du P6 · Support de prise en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91440" cy="1691640"/>
          </a:xfrm>
          <a:prstGeom prst="rect">
            <a:avLst/>
          </a:prstGeom>
          <a:solidFill>
            <a:srgbClr val="42895C"/>
          </a:solidFill>
          <a:ln>
            <a:solidFill>
              <a:srgbClr val="42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Cœur de catalogue actif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Références accessibles, avec stock et ventes.
→ Sécuriser les réassorts et surveiller le risque de rupture.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91440" cy="1691640"/>
          </a:xfrm>
          <a:prstGeom prst="rect">
            <a:avLst/>
          </a:prstGeom>
          <a:solidFill>
            <a:srgbClr val="23659C"/>
          </a:solidFill>
          <a:ln>
            <a:solidFill>
              <a:srgbClr val="23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984248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Premium à faible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4231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Prix et marge élevés, stocks et ventes plus contenus.
→ Maintenir une disponibilité mesurée ; vérifier le positionnement.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91440" cy="1691640"/>
          </a:xfrm>
          <a:prstGeom prst="rect">
            <a:avLst/>
          </a:prstGeom>
          <a:solidFill>
            <a:srgbClr val="DC7A2A"/>
          </a:solidFill>
          <a:ln>
            <a:solidFill>
              <a:srgbClr val="DC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904487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Surstock à surveiller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434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Stock élevé au regard des ventes cumulées.
→ Contrôler rotation, millésime, promotion ou arrêt de réassort.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3949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03320"/>
            <a:ext cx="91440" cy="1691640"/>
          </a:xfrm>
          <a:prstGeom prst="rect">
            <a:avLst/>
          </a:prstGeom>
          <a:solidFill>
            <a:srgbClr val="B93E3A"/>
          </a:solidFill>
          <a:ln>
            <a:solidFill>
              <a:srgbClr val="B9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904487"/>
            <a:ext cx="49377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Références inactives à auditer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3434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2D37"/>
                </a:solidFill>
                <a:latin typeface="Aptos"/>
              </a:rPr>
              <a:t>Absence de stock et de ventes cumulées dans l’export.
→ Vérifier la fiche, le statut, la disponibilité ou prévoir un retrait.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379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1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67F"/>
                </a:solidFill>
                <a:latin typeface="Aptos"/>
              </a:rPr>
              <a:t>CAS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3149"/>
                </a:solidFill>
                <a:latin typeface="Aptos"/>
              </a:rPr>
              <a:t>Avant toute action : vérifier la référence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17D"/>
                </a:solidFill>
                <a:latin typeface="Aptos"/>
              </a:rPr>
              <a:t>Le modèle propose un angle de contrôle. Il ne connaît pas les événements terrain.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17D"/>
                </a:solidFill>
                <a:latin typeface="Aptos"/>
              </a:rPr>
              <a:t>P13 · Amélioration du P6 · Support de prise en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240280"/>
            <a:ext cx="530352" cy="530352"/>
          </a:xfrm>
          <a:prstGeom prst="round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4086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219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Lire le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63240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Identifier le profil et l’action indicative associée.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1168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2240280"/>
            <a:ext cx="530352" cy="530352"/>
          </a:xfrm>
          <a:prstGeom prst="roundRect">
            <a:avLst/>
          </a:prstGeom>
          <a:solidFill>
            <a:srgbClr val="23659C"/>
          </a:solidFill>
          <a:ln>
            <a:solidFill>
              <a:srgbClr val="23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4086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2219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Contrôler le contexte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063240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Vérifier fournisseur, fin de gamme, millésime, promotion, erreur de stock ou de prix.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011680"/>
            <a:ext cx="324612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2240280"/>
            <a:ext cx="530352" cy="530352"/>
          </a:xfrm>
          <a:prstGeom prst="roundRect">
            <a:avLst/>
          </a:prstGeom>
          <a:solidFill>
            <a:srgbClr val="DC7A2A"/>
          </a:solidFill>
          <a:ln>
            <a:solidFill>
              <a:srgbClr val="DC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34086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2219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Décider et tracer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3063240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Conserver, réassortir, promouvoir, déstocker ou corriger — avec justification métier.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212080"/>
            <a:ext cx="9646920" cy="530352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5376672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F3149"/>
                </a:solidFill>
                <a:latin typeface="Aptos"/>
              </a:rPr>
              <a:t>Exemple de faux positif : une référence sans vente peut être une rupture fournisseur, pas nécessairement un produit à supprimer.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379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1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E867F"/>
                </a:solidFill>
                <a:latin typeface="Aptos"/>
              </a:rPr>
              <a:t>MISE EN PRATIQUE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3149"/>
                </a:solidFill>
                <a:latin typeface="Aptos"/>
              </a:rPr>
              <a:t>Déroulé de la prise en main et responsabilités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9717D"/>
                </a:solidFill>
                <a:latin typeface="Aptos"/>
              </a:rPr>
              <a:t>Une courte session suffit pour que les résultats soient utilisés avec discernement.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9717D"/>
                </a:solidFill>
                <a:latin typeface="Aptos"/>
              </a:rPr>
              <a:t>P13 · Amélioration du P6 · Support de prise en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1005840" cy="566928"/>
          </a:xfrm>
          <a:prstGeom prst="round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17647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Objectif et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Ce que l’analyse couvre, et pourquoi elle ne prédit pas la demande.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51760"/>
            <a:ext cx="1005840" cy="566928"/>
          </a:xfrm>
          <a:prstGeom prst="roundRect">
            <a:avLst/>
          </a:prstGeom>
          <a:solidFill>
            <a:srgbClr val="1E867F"/>
          </a:solidFill>
          <a:ln>
            <a:solidFill>
              <a:srgbClr val="1E8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679191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Lecture des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79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Prix, marge, stock et ventes cumulées : lire un profil sans jargon technique.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66160"/>
            <a:ext cx="1005840" cy="566928"/>
          </a:xfrm>
          <a:prstGeom prst="roundRect">
            <a:avLst/>
          </a:prstGeom>
          <a:solidFill>
            <a:srgbClr val="23659C"/>
          </a:solidFill>
          <a:ln>
            <a:solidFill>
              <a:srgbClr val="23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3075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3593591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Cas pratique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611879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Valider ou invalider une recommandation indicative sur une référence réelle.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80560"/>
            <a:ext cx="1005840" cy="566928"/>
          </a:xfrm>
          <a:prstGeom prst="roundRect">
            <a:avLst/>
          </a:prstGeom>
          <a:solidFill>
            <a:srgbClr val="23659C"/>
          </a:solidFill>
          <a:ln>
            <a:solidFill>
              <a:srgbClr val="23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45152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450799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149"/>
                </a:solidFill>
                <a:latin typeface="Aptos"/>
              </a:rPr>
              <a:t>Relance et retours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526280"/>
            <a:ext cx="6400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2D37"/>
                </a:solidFill>
                <a:latin typeface="Aptos"/>
              </a:rPr>
              <a:t>L’analyste relance sur un nouvel export ; les équipes signalent les incohérences.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623560"/>
            <a:ext cx="10789920" cy="457200"/>
          </a:xfrm>
          <a:prstGeom prst="roundRect">
            <a:avLst/>
          </a:prstGeom>
          <a:solidFill>
            <a:srgbClr val="1F3149"/>
          </a:solidFill>
          <a:ln>
            <a:solidFill>
              <a:srgbClr val="1F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760720"/>
            <a:ext cx="10241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À retenir : le notebook est relançable ; la lecture et la décision restent humaines.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1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Prise en main métier — Segmentation du catalogue P13 / P6</dc:title>
  <dc:subject>Support de mini-formation métier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